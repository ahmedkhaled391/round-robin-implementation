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9144000" cy="68580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8" d="100"/>
          <a:sy n="78" d="100"/>
        </p:scale>
        <p:origin x="-1536" y="-84"/>
      </p:cViewPr>
      <p:guideLst>
        <p:guide pos="2880" orient="horz"/>
        <p:guide pos="2160"/>
      </p:guideLst>
    </p:cSldViewPr>
  </p:slideViewPr>
  <p:gridSpacing cx="78028800" cy="780288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0C65DA-017E-8FBD-F924-73BC7BBBCB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9446CF-B878-B7C6-6383-79C40B7068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440DB6-14A9-46DE-59AF-D2B500E05B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14ADC-DC1B-D8A1-7889-75E661C46A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6FA389-2361-44CF-857B-01F9E3E82D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4361F-D0F1-3533-E7D9-1DF0AF3B6D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580321" name="Holder 2"/>
          <p:cNvSpPr>
            <a:spLocks noGrp="1"/>
          </p:cNvSpPr>
          <p:nvPr>
            <p:ph type="ctrTitle"/>
          </p:nvPr>
        </p:nvSpPr>
        <p:spPr bwMode="auto"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0771547" name="Holder 3"/>
          <p:cNvSpPr>
            <a:spLocks noGrp="1"/>
          </p:cNvSpPr>
          <p:nvPr>
            <p:ph type="subTitle" idx="4"/>
          </p:nvPr>
        </p:nvSpPr>
        <p:spPr bwMode="auto"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440058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529844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176791991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  <a:defRPr/>
            </a:pPr>
            <a:fld id="{81D60167-4931-47E6-BA6A-407CBD079E47}" type="slidenum">
              <a:rPr spc="-25"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677139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8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3569277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444618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349729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150031161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  <a:defRPr/>
            </a:pPr>
            <a:fld id="{81D60167-4931-47E6-BA6A-407CBD079E47}" type="slidenum">
              <a:rPr spc="-25"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576547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8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3373275" name="Holder 3"/>
          <p:cNvSpPr>
            <a:spLocks noGrp="1"/>
          </p:cNvSpPr>
          <p:nvPr>
            <p:ph sz="half" idx="2"/>
          </p:nvPr>
        </p:nvSpPr>
        <p:spPr bwMode="auto"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48389201" name="Holder 4"/>
          <p:cNvSpPr>
            <a:spLocks noGrp="1"/>
          </p:cNvSpPr>
          <p:nvPr>
            <p:ph sz="half" idx="3"/>
          </p:nvPr>
        </p:nvSpPr>
        <p:spPr bwMode="auto"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5968038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56727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54515713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  <a:defRPr/>
            </a:pPr>
            <a:fld id="{81D60167-4931-47E6-BA6A-407CBD079E47}" type="slidenum">
              <a:rPr spc="-25"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004715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8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842300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385206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89469416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  <a:defRPr/>
            </a:pPr>
            <a:fld id="{81D60167-4931-47E6-BA6A-407CBD079E47}" type="slidenum">
              <a:rPr spc="-25"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15509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544474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73761789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  <a:defRPr/>
            </a:pPr>
            <a:fld id="{81D60167-4931-47E6-BA6A-407CBD079E47}" type="slidenum">
              <a:rPr spc="-25"/>
              <a:t>#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50812" name="bg object 16"/>
          <p:cNvSpPr/>
          <p:nvPr/>
        </p:nvSpPr>
        <p:spPr bwMode="auto"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 fill="norm" stroke="1" extrusionOk="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3493B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03959326" name="bg object 17"/>
          <p:cNvSpPr/>
          <p:nvPr/>
        </p:nvSpPr>
        <p:spPr bwMode="auto">
          <a:xfrm>
            <a:off x="182879" y="182879"/>
            <a:ext cx="8778240" cy="6492240"/>
          </a:xfrm>
          <a:custGeom>
            <a:avLst/>
            <a:gdLst/>
            <a:ahLst/>
            <a:cxnLst/>
            <a:rect l="l" t="t" r="r" b="b"/>
            <a:pathLst>
              <a:path w="8778240" h="6492240" fill="norm" stroke="1" extrusionOk="0">
                <a:moveTo>
                  <a:pt x="8778240" y="0"/>
                </a:moveTo>
                <a:lnTo>
                  <a:pt x="0" y="0"/>
                </a:lnTo>
                <a:lnTo>
                  <a:pt x="0" y="6492240"/>
                </a:lnTo>
                <a:lnTo>
                  <a:pt x="8778240" y="6492240"/>
                </a:lnTo>
                <a:lnTo>
                  <a:pt x="8778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34744448" name="bg object 18"/>
          <p:cNvSpPr/>
          <p:nvPr/>
        </p:nvSpPr>
        <p:spPr bwMode="auto">
          <a:xfrm>
            <a:off x="744473" y="796290"/>
            <a:ext cx="7658100" cy="0"/>
          </a:xfrm>
          <a:custGeom>
            <a:avLst/>
            <a:gdLst/>
            <a:ahLst/>
            <a:cxnLst/>
            <a:rect l="l" t="t" r="r" b="b"/>
            <a:pathLst>
              <a:path w="7658100" h="0" fill="norm" stroke="1" extrusionOk="0">
                <a:moveTo>
                  <a:pt x="0" y="0"/>
                </a:moveTo>
                <a:lnTo>
                  <a:pt x="7658100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21331331" name="Holder 2"/>
          <p:cNvSpPr>
            <a:spLocks noGrp="1"/>
          </p:cNvSpPr>
          <p:nvPr>
            <p:ph type="title"/>
          </p:nvPr>
        </p:nvSpPr>
        <p:spPr bwMode="auto">
          <a:xfrm>
            <a:off x="2465958" y="267157"/>
            <a:ext cx="472884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4151605" name="Holder 3"/>
          <p:cNvSpPr>
            <a:spLocks noGrp="1"/>
          </p:cNvSpPr>
          <p:nvPr>
            <p:ph type="body" idx="1"/>
          </p:nvPr>
        </p:nvSpPr>
        <p:spPr bwMode="auto">
          <a:xfrm>
            <a:off x="1881123" y="3259201"/>
            <a:ext cx="4773929" cy="2254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946569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844479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108177381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8019922" y="6343827"/>
            <a:ext cx="21780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  <a:defRPr/>
            </a:pPr>
            <a:fld id="{81D60167-4931-47E6-BA6A-407CBD079E47}" type="slidenum">
              <a:rPr spc="-25"/>
              <a:t>#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403412" name="Holder 2"/>
          <p:cNvSpPr>
            <a:spLocks noGrp="1"/>
          </p:cNvSpPr>
          <p:nvPr>
            <p:ph type="title"/>
          </p:nvPr>
        </p:nvSpPr>
        <p:spPr bwMode="auto">
          <a:xfrm flipH="0" flipV="0">
            <a:off x="1475467" y="272376"/>
            <a:ext cx="6340676" cy="427079"/>
          </a:xfrm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spAutoFit/>
          </a:bodyPr>
          <a:lstStyle>
            <a:lvl1pPr>
              <a:defRPr sz="28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pPr algn="ctr">
              <a:defRPr/>
            </a:pPr>
            <a:r>
              <a:rPr/>
              <a:t>Contributors</a:t>
            </a:r>
            <a:endParaRPr/>
          </a:p>
        </p:txBody>
      </p:sp>
      <p:sp>
        <p:nvSpPr>
          <p:cNvPr id="1991285928" name="Holder 3"/>
          <p:cNvSpPr>
            <a:spLocks noGrp="1"/>
          </p:cNvSpPr>
          <p:nvPr>
            <p:ph type="body" idx="1"/>
          </p:nvPr>
        </p:nvSpPr>
        <p:spPr bwMode="auto">
          <a:xfrm flipH="0" flipV="0">
            <a:off x="1801161" y="1474838"/>
            <a:ext cx="5728027" cy="1524359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sz="2000"/>
              <a:t>Ahmed Khaled                                       42310090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sz="2000"/>
              <a:t>Mohamed Hamada                              42310371</a:t>
            </a:r>
            <a:endParaRPr sz="2000"/>
          </a:p>
          <a:p>
            <a:pPr>
              <a:defRPr/>
            </a:pPr>
            <a:r>
              <a:rPr sz="2000"/>
              <a:t> </a:t>
            </a:r>
            <a:endParaRPr sz="2000"/>
          </a:p>
          <a:p>
            <a:pPr>
              <a:defRPr/>
            </a:pPr>
            <a:r>
              <a:rPr sz="2000"/>
              <a:t>Mohamed Ayman                                42310261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2131" name="object 2"/>
          <p:cNvSpPr txBox="1"/>
          <p:nvPr/>
        </p:nvSpPr>
        <p:spPr bwMode="auto">
          <a:xfrm>
            <a:off x="756615" y="697049"/>
            <a:ext cx="7805420" cy="57029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300"/>
              </a:spcBef>
              <a:defRPr/>
            </a:pPr>
            <a:r>
              <a:rPr sz="2600" b="1">
                <a:solidFill>
                  <a:srgbClr val="FF0000"/>
                </a:solidFill>
                <a:latin typeface="Times New Roman"/>
                <a:cs typeface="Times New Roman"/>
              </a:rPr>
              <a:t>Round</a:t>
            </a:r>
            <a:r>
              <a:rPr sz="2600" b="1" spc="-4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>
                <a:solidFill>
                  <a:srgbClr val="FF0000"/>
                </a:solidFill>
                <a:latin typeface="Times New Roman"/>
                <a:cs typeface="Times New Roman"/>
              </a:rPr>
              <a:t>Robin</a:t>
            </a:r>
            <a:r>
              <a:rPr sz="2600" b="1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>
                <a:solidFill>
                  <a:srgbClr val="FF0000"/>
                </a:solidFill>
                <a:latin typeface="Times New Roman"/>
                <a:cs typeface="Times New Roman"/>
              </a:rPr>
              <a:t>(RR)</a:t>
            </a:r>
            <a:r>
              <a:rPr sz="2600" b="1" spc="-4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>
                <a:solidFill>
                  <a:srgbClr val="FF0000"/>
                </a:solidFill>
                <a:latin typeface="Times New Roman"/>
                <a:cs typeface="Times New Roman"/>
              </a:rPr>
              <a:t>scheduling</a:t>
            </a:r>
            <a:r>
              <a:rPr sz="2600" b="1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FF0000"/>
                </a:solidFill>
                <a:latin typeface="Times New Roman"/>
                <a:cs typeface="Times New Roman"/>
              </a:rPr>
              <a:t>algorithm</a:t>
            </a:r>
            <a:endParaRPr sz="2600">
              <a:latin typeface="Times New Roman"/>
              <a:cs typeface="Times New Roman"/>
            </a:endParaRPr>
          </a:p>
          <a:p>
            <a:pPr marL="183515" indent="-135890">
              <a:lnSpc>
                <a:spcPct val="100000"/>
              </a:lnSpc>
              <a:spcBef>
                <a:spcPts val="1105"/>
              </a:spcBef>
              <a:buClr>
                <a:srgbClr val="3493B9"/>
              </a:buClr>
              <a:buSzPct val="79166"/>
              <a:buFont typeface="Corbel"/>
              <a:buChar char="•"/>
              <a:tabLst>
                <a:tab pos="183515" algn="l"/>
              </a:tabLst>
              <a:defRPr/>
            </a:pPr>
            <a:r>
              <a:rPr sz="2400">
                <a:latin typeface="Times New Roman"/>
                <a:cs typeface="Times New Roman"/>
              </a:rPr>
              <a:t>Each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process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in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ready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queue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gets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a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small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unit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of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CPU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 spc="-20"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  <a:p>
            <a:pPr marL="184785">
              <a:lnSpc>
                <a:spcPct val="100000"/>
              </a:lnSpc>
              <a:spcBef>
                <a:spcPts val="5"/>
              </a:spcBef>
              <a:defRPr/>
            </a:pPr>
            <a:r>
              <a:rPr sz="2400">
                <a:latin typeface="Times New Roman"/>
                <a:cs typeface="Times New Roman"/>
              </a:rPr>
              <a:t>(time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quantum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(time slice):</a:t>
            </a:r>
            <a:r>
              <a:rPr sz="2400" spc="-4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q), usually</a:t>
            </a:r>
            <a:r>
              <a:rPr sz="2400" spc="-75">
                <a:latin typeface="Times New Roman"/>
                <a:cs typeface="Times New Roman"/>
              </a:rPr>
              <a:t> </a:t>
            </a:r>
            <a:r>
              <a:rPr sz="2400" spc="-10">
                <a:latin typeface="Times New Roman"/>
                <a:cs typeface="Times New Roman"/>
              </a:rPr>
              <a:t>10-</a:t>
            </a:r>
            <a:r>
              <a:rPr sz="2400">
                <a:latin typeface="Times New Roman"/>
                <a:cs typeface="Times New Roman"/>
              </a:rPr>
              <a:t>100 </a:t>
            </a:r>
            <a:r>
              <a:rPr sz="2400" spc="-10">
                <a:latin typeface="Times New Roman"/>
                <a:cs typeface="Times New Roman"/>
              </a:rPr>
              <a:t>milliseconds.</a:t>
            </a:r>
            <a:endParaRPr sz="2400">
              <a:latin typeface="Times New Roman"/>
              <a:cs typeface="Times New Roman"/>
            </a:endParaRPr>
          </a:p>
          <a:p>
            <a:pPr marL="183515" marR="685165" indent="-135890">
              <a:lnSpc>
                <a:spcPct val="100000"/>
              </a:lnSpc>
              <a:spcBef>
                <a:spcPts val="994"/>
              </a:spcBef>
              <a:buClr>
                <a:srgbClr val="3493B9"/>
              </a:buClr>
              <a:buSzPct val="79166"/>
              <a:buFont typeface="Corbel"/>
              <a:buChar char="•"/>
              <a:tabLst>
                <a:tab pos="184785" algn="l"/>
              </a:tabLst>
              <a:defRPr/>
            </a:pPr>
            <a:r>
              <a:rPr sz="2400">
                <a:latin typeface="Times New Roman"/>
                <a:cs typeface="Times New Roman"/>
              </a:rPr>
              <a:t>After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this</a:t>
            </a:r>
            <a:r>
              <a:rPr sz="2400" spc="-3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time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has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elapsed,</a:t>
            </a:r>
            <a:r>
              <a:rPr sz="2400" spc="-3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process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is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preempted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 spc="-25">
                <a:latin typeface="Times New Roman"/>
                <a:cs typeface="Times New Roman"/>
              </a:rPr>
              <a:t>and </a:t>
            </a:r>
            <a:r>
              <a:rPr sz="2400" spc="-25">
                <a:latin typeface="Times New Roman"/>
                <a:cs typeface="Times New Roman"/>
              </a:rPr>
              <a:t>	</a:t>
            </a:r>
            <a:r>
              <a:rPr sz="2400">
                <a:latin typeface="Times New Roman"/>
                <a:cs typeface="Times New Roman"/>
              </a:rPr>
              <a:t>added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to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the end</a:t>
            </a:r>
            <a:r>
              <a:rPr sz="2400" spc="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of the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ready</a:t>
            </a:r>
            <a:r>
              <a:rPr sz="2400" spc="5">
                <a:latin typeface="Times New Roman"/>
                <a:cs typeface="Times New Roman"/>
              </a:rPr>
              <a:t> </a:t>
            </a:r>
            <a:r>
              <a:rPr sz="2400" spc="-10">
                <a:latin typeface="Times New Roman"/>
                <a:cs typeface="Times New Roman"/>
              </a:rPr>
              <a:t>queue.</a:t>
            </a:r>
            <a:endParaRPr sz="2400">
              <a:latin typeface="Times New Roman"/>
              <a:cs typeface="Times New Roman"/>
            </a:endParaRPr>
          </a:p>
          <a:p>
            <a:pPr marL="183515" indent="-135890">
              <a:lnSpc>
                <a:spcPct val="100000"/>
              </a:lnSpc>
              <a:spcBef>
                <a:spcPts val="1010"/>
              </a:spcBef>
              <a:buClr>
                <a:srgbClr val="3493B9"/>
              </a:buClr>
              <a:buSzPct val="79166"/>
              <a:buFont typeface="Corbel"/>
              <a:buChar char="•"/>
              <a:tabLst>
                <a:tab pos="183515" algn="l"/>
              </a:tabLst>
              <a:defRPr/>
            </a:pPr>
            <a:r>
              <a:rPr sz="2400">
                <a:latin typeface="Times New Roman"/>
                <a:cs typeface="Times New Roman"/>
              </a:rPr>
              <a:t>New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processes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are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added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to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tail</a:t>
            </a:r>
            <a:r>
              <a:rPr sz="2400" spc="-4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of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ready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 spc="-10">
                <a:latin typeface="Times New Roman"/>
                <a:cs typeface="Times New Roman"/>
              </a:rPr>
              <a:t>queue.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defRPr/>
            </a:pPr>
            <a:r>
              <a:rPr sz="2400" b="1" u="sng">
                <a:latin typeface="Times New Roman"/>
                <a:cs typeface="Times New Roman"/>
              </a:rPr>
              <a:t>One</a:t>
            </a:r>
            <a:r>
              <a:rPr sz="2400" b="1" u="sng" spc="-50">
                <a:latin typeface="Times New Roman"/>
                <a:cs typeface="Times New Roman"/>
              </a:rPr>
              <a:t> </a:t>
            </a:r>
            <a:r>
              <a:rPr sz="2400" b="1" u="sng">
                <a:latin typeface="Times New Roman"/>
                <a:cs typeface="Times New Roman"/>
              </a:rPr>
              <a:t>of</a:t>
            </a:r>
            <a:r>
              <a:rPr sz="2400" b="1" u="sng" spc="-45">
                <a:latin typeface="Times New Roman"/>
                <a:cs typeface="Times New Roman"/>
              </a:rPr>
              <a:t> </a:t>
            </a:r>
            <a:r>
              <a:rPr sz="2400" b="1" u="sng">
                <a:latin typeface="Times New Roman"/>
                <a:cs typeface="Times New Roman"/>
              </a:rPr>
              <a:t>two</a:t>
            </a:r>
            <a:r>
              <a:rPr sz="2400" b="1" u="sng" spc="-40">
                <a:latin typeface="Times New Roman"/>
                <a:cs typeface="Times New Roman"/>
              </a:rPr>
              <a:t> </a:t>
            </a:r>
            <a:r>
              <a:rPr sz="2400" b="1" u="sng">
                <a:latin typeface="Times New Roman"/>
                <a:cs typeface="Times New Roman"/>
              </a:rPr>
              <a:t>things</a:t>
            </a:r>
            <a:r>
              <a:rPr sz="2400" b="1" u="sng" spc="-45">
                <a:latin typeface="Times New Roman"/>
                <a:cs typeface="Times New Roman"/>
              </a:rPr>
              <a:t> </a:t>
            </a:r>
            <a:r>
              <a:rPr sz="2400" b="1" u="sng">
                <a:latin typeface="Times New Roman"/>
                <a:cs typeface="Times New Roman"/>
              </a:rPr>
              <a:t>happens</a:t>
            </a:r>
            <a:r>
              <a:rPr sz="2400" b="1" u="sng" spc="-25">
                <a:latin typeface="Times New Roman"/>
                <a:cs typeface="Times New Roman"/>
              </a:rPr>
              <a:t> </a:t>
            </a:r>
            <a:r>
              <a:rPr sz="2400" b="1" u="sng">
                <a:latin typeface="Times New Roman"/>
                <a:cs typeface="Times New Roman"/>
              </a:rPr>
              <a:t>during</a:t>
            </a:r>
            <a:r>
              <a:rPr sz="2400" b="1" u="sng" spc="-45">
                <a:latin typeface="Times New Roman"/>
                <a:cs typeface="Times New Roman"/>
              </a:rPr>
              <a:t> </a:t>
            </a:r>
            <a:r>
              <a:rPr sz="2400" b="1" u="sng">
                <a:latin typeface="Times New Roman"/>
                <a:cs typeface="Times New Roman"/>
              </a:rPr>
              <a:t>process</a:t>
            </a:r>
            <a:r>
              <a:rPr sz="2400" b="1" u="sng" spc="-40">
                <a:latin typeface="Times New Roman"/>
                <a:cs typeface="Times New Roman"/>
              </a:rPr>
              <a:t> </a:t>
            </a:r>
            <a:r>
              <a:rPr sz="2400" b="1" u="sng" spc="-10">
                <a:latin typeface="Times New Roman"/>
                <a:cs typeface="Times New Roman"/>
              </a:rPr>
              <a:t>execution:</a:t>
            </a:r>
            <a:endParaRPr sz="2400">
              <a:latin typeface="Times New Roman"/>
              <a:cs typeface="Times New Roman"/>
            </a:endParaRPr>
          </a:p>
          <a:p>
            <a:pPr marL="12700" marR="521970" indent="-8255">
              <a:lnSpc>
                <a:spcPct val="100000"/>
              </a:lnSpc>
              <a:spcBef>
                <a:spcPts val="1000"/>
              </a:spcBef>
              <a:buSzPct val="97916"/>
              <a:buAutoNum type="arabicPlain"/>
              <a:tabLst>
                <a:tab pos="266065" algn="l"/>
              </a:tabLst>
              <a:defRPr/>
            </a:pPr>
            <a:r>
              <a:rPr sz="2400" u="sng" spc="-10">
                <a:latin typeface="Times New Roman"/>
                <a:cs typeface="Times New Roman"/>
              </a:rPr>
              <a:t>	</a:t>
            </a:r>
            <a:r>
              <a:rPr sz="2400" u="sng" spc="-10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If</a:t>
            </a:r>
            <a:r>
              <a:rPr sz="2400" u="sng" spc="-1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CPU burst</a:t>
            </a:r>
            <a:r>
              <a:rPr sz="2400" u="sng" spc="-20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of</a:t>
            </a:r>
            <a:r>
              <a:rPr sz="2400" u="sng" spc="-1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the</a:t>
            </a:r>
            <a:r>
              <a:rPr sz="2400" u="sng" spc="-30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current</a:t>
            </a:r>
            <a:r>
              <a:rPr sz="2400" u="sng" spc="-30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running</a:t>
            </a:r>
            <a:r>
              <a:rPr sz="2400" u="sng" spc="-30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process</a:t>
            </a:r>
            <a:r>
              <a:rPr sz="2400" u="sng" spc="-10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is</a:t>
            </a:r>
            <a:r>
              <a:rPr sz="2400" u="sng" spc="-2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less</a:t>
            </a:r>
            <a:r>
              <a:rPr sz="2400" u="sng" spc="-2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than</a:t>
            </a:r>
            <a:r>
              <a:rPr sz="2400" u="sng" spc="5">
                <a:latin typeface="Times New Roman"/>
                <a:cs typeface="Times New Roman"/>
              </a:rPr>
              <a:t> </a:t>
            </a:r>
            <a:r>
              <a:rPr sz="2400" u="sng" spc="-50">
                <a:latin typeface="Times New Roman"/>
                <a:cs typeface="Times New Roman"/>
              </a:rPr>
              <a:t>1</a:t>
            </a:r>
            <a:r>
              <a:rPr sz="2400" spc="-50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time</a:t>
            </a:r>
            <a:r>
              <a:rPr sz="2400" u="sng" spc="-25">
                <a:latin typeface="Times New Roman"/>
                <a:cs typeface="Times New Roman"/>
              </a:rPr>
              <a:t> </a:t>
            </a:r>
            <a:r>
              <a:rPr sz="2400" u="sng" spc="-10">
                <a:latin typeface="Times New Roman"/>
                <a:cs typeface="Times New Roman"/>
              </a:rPr>
              <a:t>quantum:</a:t>
            </a:r>
            <a:endParaRPr sz="2400">
              <a:latin typeface="Times New Roman"/>
              <a:cs typeface="Times New Roman"/>
            </a:endParaRPr>
          </a:p>
          <a:p>
            <a:pPr marL="354330" marR="1289685" lvl="1" indent="-136525">
              <a:lnSpc>
                <a:spcPct val="100000"/>
              </a:lnSpc>
              <a:spcBef>
                <a:spcPts val="204"/>
              </a:spcBef>
              <a:buClr>
                <a:srgbClr val="3493B9"/>
              </a:buClr>
              <a:buSzPct val="79166"/>
              <a:buFont typeface="Corbel"/>
              <a:buChar char="•"/>
              <a:tabLst>
                <a:tab pos="355600" algn="l"/>
              </a:tabLst>
              <a:defRPr/>
            </a:pPr>
            <a:r>
              <a:rPr sz="2400">
                <a:latin typeface="Times New Roman"/>
                <a:cs typeface="Times New Roman"/>
              </a:rPr>
              <a:t>In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this</a:t>
            </a:r>
            <a:r>
              <a:rPr sz="2400" spc="-3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case,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process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itself</a:t>
            </a:r>
            <a:r>
              <a:rPr sz="2400" spc="-4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will</a:t>
            </a:r>
            <a:r>
              <a:rPr sz="2400" spc="-3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release</a:t>
            </a:r>
            <a:r>
              <a:rPr sz="2400" spc="-4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 spc="-25">
                <a:latin typeface="Times New Roman"/>
                <a:cs typeface="Times New Roman"/>
              </a:rPr>
              <a:t>CPU </a:t>
            </a:r>
            <a:r>
              <a:rPr sz="2400" spc="-25">
                <a:latin typeface="Times New Roman"/>
                <a:cs typeface="Times New Roman"/>
              </a:rPr>
              <a:t>	</a:t>
            </a:r>
            <a:r>
              <a:rPr sz="2400">
                <a:latin typeface="Times New Roman"/>
                <a:cs typeface="Times New Roman"/>
              </a:rPr>
              <a:t>voluntarily</a:t>
            </a:r>
            <a:r>
              <a:rPr sz="2400" spc="-40">
                <a:latin typeface="Times New Roman"/>
                <a:cs typeface="Times New Roman"/>
              </a:rPr>
              <a:t> </a:t>
            </a:r>
            <a:r>
              <a:rPr sz="2400" spc="-10">
                <a:latin typeface="Times New Roman"/>
                <a:cs typeface="Times New Roman"/>
              </a:rPr>
              <a:t>(freely).</a:t>
            </a:r>
            <a:endParaRPr sz="2400">
              <a:latin typeface="Times New Roman"/>
              <a:cs typeface="Times New Roman"/>
            </a:endParaRPr>
          </a:p>
          <a:p>
            <a:pPr marL="354330" marR="203200" lvl="1" indent="-136525">
              <a:lnSpc>
                <a:spcPct val="100000"/>
              </a:lnSpc>
              <a:spcBef>
                <a:spcPts val="505"/>
              </a:spcBef>
              <a:buClr>
                <a:srgbClr val="3493B9"/>
              </a:buClr>
              <a:buSzPct val="79166"/>
              <a:buFont typeface="Corbel"/>
              <a:buChar char="•"/>
              <a:tabLst>
                <a:tab pos="355600" algn="l"/>
              </a:tabLst>
              <a:defRPr/>
            </a:pP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CPU</a:t>
            </a:r>
            <a:r>
              <a:rPr sz="2400" spc="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scheduler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will</a:t>
            </a:r>
            <a:r>
              <a:rPr sz="2400" spc="-3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then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proceed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to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next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process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 spc="-25">
                <a:latin typeface="Times New Roman"/>
                <a:cs typeface="Times New Roman"/>
              </a:rPr>
              <a:t>in </a:t>
            </a:r>
            <a:r>
              <a:rPr sz="2400" spc="-25">
                <a:latin typeface="Times New Roman"/>
                <a:cs typeface="Times New Roman"/>
              </a:rPr>
              <a:t>	</a:t>
            </a:r>
            <a:r>
              <a:rPr sz="2400">
                <a:latin typeface="Times New Roman"/>
                <a:cs typeface="Times New Roman"/>
              </a:rPr>
              <a:t>the ready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 spc="-10">
                <a:latin typeface="Times New Roman"/>
                <a:cs typeface="Times New Roman"/>
              </a:rPr>
              <a:t>queue.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13981375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  <a:defRPr/>
            </a:pPr>
            <a:fld id="{81D60167-4931-47E6-BA6A-407CBD079E47}" type="slidenum">
              <a:rPr spc="-25"/>
              <a:t>17</a:t>
            </a:fld>
            <a:endParaRPr/>
          </a:p>
        </p:txBody>
      </p:sp>
      <p:sp>
        <p:nvSpPr>
          <p:cNvPr id="1195049222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2877692" y="267157"/>
            <a:ext cx="39020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pc="-10">
                <a:solidFill>
                  <a:srgbClr val="006699"/>
                </a:solidFill>
              </a:rPr>
              <a:t>Scheduling</a:t>
            </a:r>
            <a:r>
              <a:rPr spc="-155">
                <a:solidFill>
                  <a:srgbClr val="006699"/>
                </a:solidFill>
              </a:rPr>
              <a:t> </a:t>
            </a:r>
            <a:r>
              <a:rPr spc="-10">
                <a:solidFill>
                  <a:srgbClr val="006699"/>
                </a:solidFill>
              </a:rPr>
              <a:t>Algorithms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389570" name="object 2"/>
          <p:cNvSpPr txBox="1"/>
          <p:nvPr/>
        </p:nvSpPr>
        <p:spPr bwMode="auto">
          <a:xfrm>
            <a:off x="567639" y="913257"/>
            <a:ext cx="7472044" cy="2848610"/>
          </a:xfrm>
          <a:prstGeom prst="rect">
            <a:avLst/>
          </a:prstGeom>
        </p:spPr>
        <p:txBody>
          <a:bodyPr vert="horz" wrap="square" lIns="0" tIns="53974" rIns="0" bIns="0" rtlCol="0">
            <a:spAutoFit/>
          </a:bodyPr>
          <a:lstStyle/>
          <a:p>
            <a:pPr marL="12700" marR="13970">
              <a:lnSpc>
                <a:spcPts val="2590"/>
              </a:lnSpc>
              <a:spcBef>
                <a:spcPts val="425"/>
              </a:spcBef>
              <a:defRPr/>
            </a:pPr>
            <a:r>
              <a:rPr sz="2400" u="sng">
                <a:latin typeface="Times New Roman"/>
                <a:cs typeface="Times New Roman"/>
              </a:rPr>
              <a:t>2-</a:t>
            </a:r>
            <a:r>
              <a:rPr sz="2400" u="sng" spc="-1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If</a:t>
            </a:r>
            <a:r>
              <a:rPr sz="2400" u="sng" spc="-1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the</a:t>
            </a:r>
            <a:r>
              <a:rPr sz="2400" u="sng" spc="-2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CPU</a:t>
            </a:r>
            <a:r>
              <a:rPr sz="2400" u="sng" spc="-1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burst</a:t>
            </a:r>
            <a:r>
              <a:rPr sz="2400" u="sng" spc="-1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of</a:t>
            </a:r>
            <a:r>
              <a:rPr sz="2400" u="sng" spc="-1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the</a:t>
            </a:r>
            <a:r>
              <a:rPr sz="2400" u="sng" spc="-1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currently</a:t>
            </a:r>
            <a:r>
              <a:rPr sz="2400" u="sng" spc="-5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running</a:t>
            </a:r>
            <a:r>
              <a:rPr sz="2400" u="sng" spc="-40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process</a:t>
            </a:r>
            <a:r>
              <a:rPr sz="2400" u="sng" spc="-10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is</a:t>
            </a:r>
            <a:r>
              <a:rPr sz="2400" u="sng" spc="-15">
                <a:latin typeface="Times New Roman"/>
                <a:cs typeface="Times New Roman"/>
              </a:rPr>
              <a:t> </a:t>
            </a:r>
            <a:r>
              <a:rPr sz="2400" u="sng" spc="-10">
                <a:latin typeface="Times New Roman"/>
                <a:cs typeface="Times New Roman"/>
              </a:rPr>
              <a:t>longer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than</a:t>
            </a:r>
            <a:r>
              <a:rPr sz="2400" u="sng" spc="-2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1</a:t>
            </a:r>
            <a:r>
              <a:rPr sz="2400" u="sng" spc="-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time</a:t>
            </a:r>
            <a:r>
              <a:rPr sz="2400" u="sng" spc="-10">
                <a:latin typeface="Times New Roman"/>
                <a:cs typeface="Times New Roman"/>
              </a:rPr>
              <a:t> quantum,</a:t>
            </a:r>
            <a:endParaRPr sz="2400">
              <a:latin typeface="Times New Roman"/>
              <a:cs typeface="Times New Roman"/>
            </a:endParaRPr>
          </a:p>
          <a:p>
            <a:pPr marL="354330" marR="497840" indent="-135890">
              <a:lnSpc>
                <a:spcPts val="2590"/>
              </a:lnSpc>
              <a:spcBef>
                <a:spcPts val="210"/>
              </a:spcBef>
              <a:buClr>
                <a:srgbClr val="3493B9"/>
              </a:buClr>
              <a:buSzPct val="79166"/>
              <a:buFont typeface="Corbel"/>
              <a:buChar char="•"/>
              <a:tabLst>
                <a:tab pos="355600" algn="l"/>
              </a:tabLst>
              <a:defRPr/>
            </a:pP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3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timer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will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go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off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and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will</a:t>
            </a:r>
            <a:r>
              <a:rPr sz="2400" spc="-3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cause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an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interrupt</a:t>
            </a:r>
            <a:r>
              <a:rPr sz="2400" spc="-5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to</a:t>
            </a:r>
            <a:r>
              <a:rPr sz="2400" spc="-25">
                <a:latin typeface="Times New Roman"/>
                <a:cs typeface="Times New Roman"/>
              </a:rPr>
              <a:t> the </a:t>
            </a:r>
            <a:r>
              <a:rPr sz="2400" spc="-25">
                <a:latin typeface="Times New Roman"/>
                <a:cs typeface="Times New Roman"/>
              </a:rPr>
              <a:t>	</a:t>
            </a:r>
            <a:r>
              <a:rPr sz="2400">
                <a:latin typeface="Times New Roman"/>
                <a:cs typeface="Times New Roman"/>
              </a:rPr>
              <a:t>operating</a:t>
            </a:r>
            <a:r>
              <a:rPr sz="2400" spc="-35">
                <a:latin typeface="Times New Roman"/>
                <a:cs typeface="Times New Roman"/>
              </a:rPr>
              <a:t> </a:t>
            </a:r>
            <a:r>
              <a:rPr sz="2400" spc="-10">
                <a:latin typeface="Times New Roman"/>
                <a:cs typeface="Times New Roman"/>
              </a:rPr>
              <a:t>system.</a:t>
            </a:r>
            <a:endParaRPr sz="2400">
              <a:latin typeface="Times New Roman"/>
              <a:cs typeface="Times New Roman"/>
            </a:endParaRPr>
          </a:p>
          <a:p>
            <a:pPr marL="354330" marR="505459" indent="-135890">
              <a:lnSpc>
                <a:spcPts val="2590"/>
              </a:lnSpc>
              <a:spcBef>
                <a:spcPts val="500"/>
              </a:spcBef>
              <a:buClr>
                <a:srgbClr val="3493B9"/>
              </a:buClr>
              <a:buSzPct val="79166"/>
              <a:buFont typeface="Corbel"/>
              <a:buChar char="•"/>
              <a:tabLst>
                <a:tab pos="355600" algn="l"/>
              </a:tabLst>
              <a:defRPr/>
            </a:pP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running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process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will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be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put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at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tail</a:t>
            </a:r>
            <a:r>
              <a:rPr sz="2400" spc="-4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of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 spc="-20">
                <a:latin typeface="Times New Roman"/>
                <a:cs typeface="Times New Roman"/>
              </a:rPr>
              <a:t>ready </a:t>
            </a:r>
            <a:r>
              <a:rPr sz="2400" spc="-20">
                <a:latin typeface="Times New Roman"/>
                <a:cs typeface="Times New Roman"/>
              </a:rPr>
              <a:t>	</a:t>
            </a:r>
            <a:r>
              <a:rPr sz="2400" spc="-10">
                <a:latin typeface="Times New Roman"/>
                <a:cs typeface="Times New Roman"/>
              </a:rPr>
              <a:t>queue.</a:t>
            </a:r>
            <a:endParaRPr sz="2400">
              <a:latin typeface="Times New Roman"/>
              <a:cs typeface="Times New Roman"/>
            </a:endParaRPr>
          </a:p>
          <a:p>
            <a:pPr marL="354330" indent="-135890">
              <a:lnSpc>
                <a:spcPts val="2735"/>
              </a:lnSpc>
              <a:spcBef>
                <a:spcPts val="180"/>
              </a:spcBef>
              <a:buClr>
                <a:srgbClr val="3493B9"/>
              </a:buClr>
              <a:buSzPct val="79166"/>
              <a:buFont typeface="Corbel"/>
              <a:buChar char="•"/>
              <a:tabLst>
                <a:tab pos="354330" algn="l"/>
              </a:tabLst>
              <a:defRPr/>
            </a:pP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CPU</a:t>
            </a:r>
            <a:r>
              <a:rPr sz="2400" spc="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scheduler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will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then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select</a:t>
            </a:r>
            <a:r>
              <a:rPr sz="2400" spc="-4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next</a:t>
            </a:r>
            <a:r>
              <a:rPr sz="2400" spc="-3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process in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 spc="-25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735"/>
              </a:lnSpc>
              <a:defRPr/>
            </a:pPr>
            <a:r>
              <a:rPr sz="2400">
                <a:latin typeface="Times New Roman"/>
                <a:cs typeface="Times New Roman"/>
              </a:rPr>
              <a:t>ready</a:t>
            </a:r>
            <a:r>
              <a:rPr sz="2400" spc="-10">
                <a:latin typeface="Times New Roman"/>
                <a:cs typeface="Times New Roman"/>
              </a:rPr>
              <a:t> queue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68455815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  <a:defRPr/>
            </a:pPr>
            <a:fld id="{81D60167-4931-47E6-BA6A-407CBD079E47}" type="slidenum">
              <a:rPr spc="-25"/>
              <a:t>17</a:t>
            </a:fld>
            <a:endParaRPr/>
          </a:p>
        </p:txBody>
      </p:sp>
      <p:sp>
        <p:nvSpPr>
          <p:cNvPr id="1677648659" name="object 3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4180">
              <a:lnSpc>
                <a:spcPct val="100000"/>
              </a:lnSpc>
              <a:spcBef>
                <a:spcPts val="95"/>
              </a:spcBef>
              <a:defRPr/>
            </a:pPr>
            <a:r>
              <a:rPr spc="-10">
                <a:solidFill>
                  <a:srgbClr val="006699"/>
                </a:solidFill>
              </a:rPr>
              <a:t>Scheduling</a:t>
            </a:r>
            <a:r>
              <a:rPr spc="-155">
                <a:solidFill>
                  <a:srgbClr val="006699"/>
                </a:solidFill>
              </a:rPr>
              <a:t> </a:t>
            </a:r>
            <a:r>
              <a:rPr spc="-10">
                <a:solidFill>
                  <a:srgbClr val="006699"/>
                </a:solidFill>
              </a:rPr>
              <a:t>Algorithms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739658" name="object 2"/>
          <p:cNvSpPr txBox="1"/>
          <p:nvPr/>
        </p:nvSpPr>
        <p:spPr bwMode="auto">
          <a:xfrm>
            <a:off x="778255" y="1919427"/>
            <a:ext cx="7222490" cy="2388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20115">
              <a:lnSpc>
                <a:spcPct val="100000"/>
              </a:lnSpc>
              <a:spcBef>
                <a:spcPts val="95"/>
              </a:spcBef>
              <a:defRPr/>
            </a:pPr>
            <a:r>
              <a:rPr sz="3100" b="1" u="sng">
                <a:solidFill>
                  <a:srgbClr val="006FC0"/>
                </a:solidFill>
                <a:latin typeface="Times New Roman"/>
                <a:cs typeface="Times New Roman"/>
              </a:rPr>
              <a:t>Round</a:t>
            </a:r>
            <a:r>
              <a:rPr sz="3100" b="1" u="sng" spc="-11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100" b="1" u="sng">
                <a:solidFill>
                  <a:srgbClr val="006FC0"/>
                </a:solidFill>
                <a:latin typeface="Times New Roman"/>
                <a:cs typeface="Times New Roman"/>
              </a:rPr>
              <a:t>Robin</a:t>
            </a:r>
            <a:r>
              <a:rPr sz="3100" b="1" u="sng" spc="-10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100" b="1" u="sng">
                <a:solidFill>
                  <a:srgbClr val="006FC0"/>
                </a:solidFill>
                <a:latin typeface="Times New Roman"/>
                <a:cs typeface="Times New Roman"/>
              </a:rPr>
              <a:t>scheduling</a:t>
            </a:r>
            <a:r>
              <a:rPr sz="3100" b="1" u="sng" spc="-9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100" b="1" u="sng">
                <a:solidFill>
                  <a:srgbClr val="006FC0"/>
                </a:solidFill>
                <a:latin typeface="Times New Roman"/>
                <a:cs typeface="Times New Roman"/>
              </a:rPr>
              <a:t>algorithm</a:t>
            </a:r>
            <a:r>
              <a:rPr sz="3100" b="1" u="sng" spc="-11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100" b="1" u="sng" spc="-25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3100" b="1" spc="-2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100" b="1" u="sng" spc="-10">
                <a:solidFill>
                  <a:srgbClr val="006FC0"/>
                </a:solidFill>
                <a:latin typeface="Times New Roman"/>
                <a:cs typeface="Times New Roman"/>
              </a:rPr>
              <a:t>preemptive:</a:t>
            </a:r>
            <a:endParaRPr sz="31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defRPr/>
            </a:pPr>
            <a:r>
              <a:rPr sz="3100">
                <a:latin typeface="Times New Roman"/>
                <a:cs typeface="Times New Roman"/>
              </a:rPr>
              <a:t>If</a:t>
            </a:r>
            <a:r>
              <a:rPr sz="3100" spc="-70">
                <a:latin typeface="Times New Roman"/>
                <a:cs typeface="Times New Roman"/>
              </a:rPr>
              <a:t> </a:t>
            </a:r>
            <a:r>
              <a:rPr sz="3100">
                <a:latin typeface="Times New Roman"/>
                <a:cs typeface="Times New Roman"/>
              </a:rPr>
              <a:t>a</a:t>
            </a:r>
            <a:r>
              <a:rPr sz="3100" spc="-60">
                <a:latin typeface="Times New Roman"/>
                <a:cs typeface="Times New Roman"/>
              </a:rPr>
              <a:t> </a:t>
            </a:r>
            <a:r>
              <a:rPr sz="3100" spc="-10">
                <a:latin typeface="Times New Roman"/>
                <a:cs typeface="Times New Roman"/>
              </a:rPr>
              <a:t>process’s</a:t>
            </a:r>
            <a:r>
              <a:rPr sz="3100" spc="-35">
                <a:latin typeface="Times New Roman"/>
                <a:cs typeface="Times New Roman"/>
              </a:rPr>
              <a:t> </a:t>
            </a:r>
            <a:r>
              <a:rPr sz="3100">
                <a:latin typeface="Times New Roman"/>
                <a:cs typeface="Times New Roman"/>
              </a:rPr>
              <a:t>CPU</a:t>
            </a:r>
            <a:r>
              <a:rPr sz="3100" spc="-75">
                <a:latin typeface="Times New Roman"/>
                <a:cs typeface="Times New Roman"/>
              </a:rPr>
              <a:t> </a:t>
            </a:r>
            <a:r>
              <a:rPr sz="3100">
                <a:latin typeface="Times New Roman"/>
                <a:cs typeface="Times New Roman"/>
              </a:rPr>
              <a:t>burst</a:t>
            </a:r>
            <a:r>
              <a:rPr sz="3100" spc="-35">
                <a:latin typeface="Times New Roman"/>
                <a:cs typeface="Times New Roman"/>
              </a:rPr>
              <a:t> </a:t>
            </a:r>
            <a:r>
              <a:rPr sz="3100">
                <a:latin typeface="Times New Roman"/>
                <a:cs typeface="Times New Roman"/>
              </a:rPr>
              <a:t>exceeds</a:t>
            </a:r>
            <a:r>
              <a:rPr sz="3100" spc="-60">
                <a:latin typeface="Times New Roman"/>
                <a:cs typeface="Times New Roman"/>
              </a:rPr>
              <a:t> </a:t>
            </a:r>
            <a:r>
              <a:rPr sz="3100">
                <a:latin typeface="Times New Roman"/>
                <a:cs typeface="Times New Roman"/>
              </a:rPr>
              <a:t>1</a:t>
            </a:r>
            <a:r>
              <a:rPr sz="3100" spc="-60">
                <a:latin typeface="Times New Roman"/>
                <a:cs typeface="Times New Roman"/>
              </a:rPr>
              <a:t> </a:t>
            </a:r>
            <a:r>
              <a:rPr sz="3100" spc="-20">
                <a:latin typeface="Times New Roman"/>
                <a:cs typeface="Times New Roman"/>
              </a:rPr>
              <a:t>time </a:t>
            </a:r>
            <a:r>
              <a:rPr sz="3100">
                <a:latin typeface="Times New Roman"/>
                <a:cs typeface="Times New Roman"/>
              </a:rPr>
              <a:t>quantum,</a:t>
            </a:r>
            <a:r>
              <a:rPr sz="3100" spc="-75">
                <a:latin typeface="Times New Roman"/>
                <a:cs typeface="Times New Roman"/>
              </a:rPr>
              <a:t> </a:t>
            </a:r>
            <a:r>
              <a:rPr sz="3100">
                <a:latin typeface="Times New Roman"/>
                <a:cs typeface="Times New Roman"/>
              </a:rPr>
              <a:t>that</a:t>
            </a:r>
            <a:r>
              <a:rPr sz="3100" spc="-60">
                <a:latin typeface="Times New Roman"/>
                <a:cs typeface="Times New Roman"/>
              </a:rPr>
              <a:t> </a:t>
            </a:r>
            <a:r>
              <a:rPr sz="3100">
                <a:latin typeface="Times New Roman"/>
                <a:cs typeface="Times New Roman"/>
              </a:rPr>
              <a:t>process</a:t>
            </a:r>
            <a:r>
              <a:rPr sz="3100" spc="-55">
                <a:latin typeface="Times New Roman"/>
                <a:cs typeface="Times New Roman"/>
              </a:rPr>
              <a:t> </a:t>
            </a:r>
            <a:r>
              <a:rPr sz="3100">
                <a:latin typeface="Times New Roman"/>
                <a:cs typeface="Times New Roman"/>
              </a:rPr>
              <a:t>is</a:t>
            </a:r>
            <a:r>
              <a:rPr sz="3100" spc="-55">
                <a:latin typeface="Times New Roman"/>
                <a:cs typeface="Times New Roman"/>
              </a:rPr>
              <a:t> </a:t>
            </a:r>
            <a:r>
              <a:rPr sz="3100">
                <a:latin typeface="Times New Roman"/>
                <a:cs typeface="Times New Roman"/>
              </a:rPr>
              <a:t>preempted</a:t>
            </a:r>
            <a:r>
              <a:rPr sz="3100" spc="-70">
                <a:latin typeface="Times New Roman"/>
                <a:cs typeface="Times New Roman"/>
              </a:rPr>
              <a:t> </a:t>
            </a:r>
            <a:r>
              <a:rPr sz="3100">
                <a:latin typeface="Times New Roman"/>
                <a:cs typeface="Times New Roman"/>
              </a:rPr>
              <a:t>and</a:t>
            </a:r>
            <a:r>
              <a:rPr sz="3100" spc="-75">
                <a:latin typeface="Times New Roman"/>
                <a:cs typeface="Times New Roman"/>
              </a:rPr>
              <a:t> </a:t>
            </a:r>
            <a:r>
              <a:rPr sz="3100">
                <a:latin typeface="Times New Roman"/>
                <a:cs typeface="Times New Roman"/>
              </a:rPr>
              <a:t>is</a:t>
            </a:r>
            <a:r>
              <a:rPr sz="3100" spc="-60">
                <a:latin typeface="Times New Roman"/>
                <a:cs typeface="Times New Roman"/>
              </a:rPr>
              <a:t> </a:t>
            </a:r>
            <a:r>
              <a:rPr sz="3100" spc="-25">
                <a:latin typeface="Times New Roman"/>
                <a:cs typeface="Times New Roman"/>
              </a:rPr>
              <a:t>put </a:t>
            </a:r>
            <a:r>
              <a:rPr sz="3100">
                <a:latin typeface="Times New Roman"/>
                <a:cs typeface="Times New Roman"/>
              </a:rPr>
              <a:t>back</a:t>
            </a:r>
            <a:r>
              <a:rPr sz="3100" spc="-55">
                <a:latin typeface="Times New Roman"/>
                <a:cs typeface="Times New Roman"/>
              </a:rPr>
              <a:t> </a:t>
            </a:r>
            <a:r>
              <a:rPr sz="3100">
                <a:latin typeface="Times New Roman"/>
                <a:cs typeface="Times New Roman"/>
              </a:rPr>
              <a:t>in</a:t>
            </a:r>
            <a:r>
              <a:rPr sz="3100" spc="-50">
                <a:latin typeface="Times New Roman"/>
                <a:cs typeface="Times New Roman"/>
              </a:rPr>
              <a:t> </a:t>
            </a:r>
            <a:r>
              <a:rPr sz="3100">
                <a:latin typeface="Times New Roman"/>
                <a:cs typeface="Times New Roman"/>
              </a:rPr>
              <a:t>the</a:t>
            </a:r>
            <a:r>
              <a:rPr sz="3100" spc="-40">
                <a:latin typeface="Times New Roman"/>
                <a:cs typeface="Times New Roman"/>
              </a:rPr>
              <a:t> </a:t>
            </a:r>
            <a:r>
              <a:rPr sz="3100">
                <a:latin typeface="Times New Roman"/>
                <a:cs typeface="Times New Roman"/>
              </a:rPr>
              <a:t>ready</a:t>
            </a:r>
            <a:r>
              <a:rPr sz="3100" spc="-50">
                <a:latin typeface="Times New Roman"/>
                <a:cs typeface="Times New Roman"/>
              </a:rPr>
              <a:t> </a:t>
            </a:r>
            <a:r>
              <a:rPr sz="3100" spc="-10">
                <a:latin typeface="Times New Roman"/>
                <a:cs typeface="Times New Roman"/>
              </a:rPr>
              <a:t>queue.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739778209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  <a:defRPr/>
            </a:pPr>
            <a:fld id="{81D60167-4931-47E6-BA6A-407CBD079E47}" type="slidenum">
              <a:rPr spc="-25"/>
              <a:t>17</a:t>
            </a:fld>
            <a:endParaRPr/>
          </a:p>
        </p:txBody>
      </p:sp>
      <p:sp>
        <p:nvSpPr>
          <p:cNvPr id="1325331756" name="object 3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4180">
              <a:lnSpc>
                <a:spcPct val="100000"/>
              </a:lnSpc>
              <a:spcBef>
                <a:spcPts val="95"/>
              </a:spcBef>
              <a:defRPr/>
            </a:pPr>
            <a:r>
              <a:rPr spc="-10">
                <a:solidFill>
                  <a:srgbClr val="006699"/>
                </a:solidFill>
              </a:rPr>
              <a:t>Scheduling</a:t>
            </a:r>
            <a:r>
              <a:rPr spc="-155">
                <a:solidFill>
                  <a:srgbClr val="006699"/>
                </a:solidFill>
              </a:rPr>
              <a:t> </a:t>
            </a:r>
            <a:r>
              <a:rPr spc="-10">
                <a:solidFill>
                  <a:srgbClr val="006699"/>
                </a:solidFill>
              </a:rPr>
              <a:t>Algorithms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35917" name="object 2"/>
          <p:cNvSpPr txBox="1"/>
          <p:nvPr/>
        </p:nvSpPr>
        <p:spPr bwMode="auto">
          <a:xfrm>
            <a:off x="572516" y="4179570"/>
            <a:ext cx="7299959" cy="720724"/>
          </a:xfrm>
          <a:prstGeom prst="rect">
            <a:avLst/>
          </a:prstGeom>
        </p:spPr>
        <p:txBody>
          <a:bodyPr vert="horz" wrap="square" lIns="0" tIns="53974" rIns="0" bIns="0" rtlCol="0">
            <a:spAutoFit/>
          </a:bodyPr>
          <a:lstStyle/>
          <a:p>
            <a:pPr marL="184785" marR="5080" indent="-172720">
              <a:lnSpc>
                <a:spcPts val="2590"/>
              </a:lnSpc>
              <a:spcBef>
                <a:spcPts val="425"/>
              </a:spcBef>
              <a:defRPr/>
            </a:pPr>
            <a:r>
              <a:rPr sz="2400" u="sng">
                <a:latin typeface="Times New Roman"/>
                <a:cs typeface="Times New Roman"/>
              </a:rPr>
              <a:t>Only</a:t>
            </a:r>
            <a:r>
              <a:rPr sz="2400" u="sng" spc="-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occurs</a:t>
            </a:r>
            <a:r>
              <a:rPr sz="2400" u="sng" spc="-1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in</a:t>
            </a:r>
            <a:r>
              <a:rPr sz="2400" u="sng" spc="-1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Round</a:t>
            </a:r>
            <a:r>
              <a:rPr sz="2400" u="sng" spc="-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Robin</a:t>
            </a:r>
            <a:r>
              <a:rPr sz="2400" u="sng" spc="-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to</a:t>
            </a:r>
            <a:r>
              <a:rPr sz="2400" u="sng" spc="-20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have</a:t>
            </a:r>
            <a:r>
              <a:rPr sz="2400" u="sng" spc="-1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more</a:t>
            </a:r>
            <a:r>
              <a:rPr sz="2400" u="sng" spc="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than</a:t>
            </a:r>
            <a:r>
              <a:rPr sz="2400" u="sng" spc="-25">
                <a:latin typeface="Times New Roman"/>
                <a:cs typeface="Times New Roman"/>
              </a:rPr>
              <a:t> </a:t>
            </a:r>
            <a:r>
              <a:rPr sz="2400" u="sng">
                <a:latin typeface="Times New Roman"/>
                <a:cs typeface="Times New Roman"/>
              </a:rPr>
              <a:t>one</a:t>
            </a:r>
            <a:r>
              <a:rPr sz="2400" u="sng" spc="-5">
                <a:latin typeface="Times New Roman"/>
                <a:cs typeface="Times New Roman"/>
              </a:rPr>
              <a:t> </a:t>
            </a:r>
            <a:r>
              <a:rPr sz="2400" u="sng" spc="-10">
                <a:latin typeface="Times New Roman"/>
                <a:cs typeface="Times New Roman"/>
              </a:rPr>
              <a:t>waiting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 u="sng" spc="-20"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50398682" name="object 3"/>
          <p:cNvSpPr txBox="1"/>
          <p:nvPr/>
        </p:nvSpPr>
        <p:spPr bwMode="auto">
          <a:xfrm>
            <a:off x="572516" y="4875476"/>
            <a:ext cx="7442834" cy="16465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  <a:defRPr/>
            </a:pPr>
            <a:r>
              <a:rPr sz="2400" spc="-20">
                <a:latin typeface="Times New Roman"/>
                <a:cs typeface="Times New Roman"/>
              </a:rPr>
              <a:t>Waiting</a:t>
            </a:r>
            <a:r>
              <a:rPr sz="2400" spc="-4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time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for</a:t>
            </a:r>
            <a:r>
              <a:rPr sz="2400" spc="59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P1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=10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-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4</a:t>
            </a:r>
            <a:r>
              <a:rPr sz="2400" spc="580">
                <a:latin typeface="Times New Roman"/>
                <a:cs typeface="Times New Roman"/>
              </a:rPr>
              <a:t> </a:t>
            </a:r>
            <a:r>
              <a:rPr sz="2400" spc="-25">
                <a:latin typeface="Times New Roman"/>
                <a:cs typeface="Times New Roman"/>
              </a:rPr>
              <a:t>=6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590"/>
              </a:lnSpc>
              <a:spcBef>
                <a:spcPts val="835"/>
              </a:spcBef>
              <a:buFont typeface="Arial MT"/>
              <a:buChar char="•"/>
              <a:tabLst>
                <a:tab pos="355600" algn="l"/>
              </a:tabLst>
              <a:defRPr/>
            </a:pPr>
            <a:r>
              <a:rPr sz="2400">
                <a:latin typeface="Times New Roman"/>
                <a:cs typeface="Times New Roman"/>
              </a:rPr>
              <a:t>Means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when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it</a:t>
            </a:r>
            <a:r>
              <a:rPr sz="2400" spc="-4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is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started</a:t>
            </a:r>
            <a:r>
              <a:rPr sz="2400" spc="-3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for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the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second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time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(at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10)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 spc="-10">
                <a:latin typeface="Times New Roman"/>
                <a:cs typeface="Times New Roman"/>
              </a:rPr>
              <a:t>minus </a:t>
            </a:r>
            <a:r>
              <a:rPr sz="2400">
                <a:latin typeface="Times New Roman"/>
                <a:cs typeface="Times New Roman"/>
              </a:rPr>
              <a:t>its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last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finish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(at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 spc="-25">
                <a:latin typeface="Times New Roman"/>
                <a:cs typeface="Times New Roman"/>
              </a:rPr>
              <a:t>4)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  <a:defRPr/>
            </a:pPr>
            <a:r>
              <a:rPr sz="2400">
                <a:latin typeface="Times New Roman"/>
                <a:cs typeface="Times New Roman"/>
              </a:rPr>
              <a:t>Turnaround</a:t>
            </a:r>
            <a:r>
              <a:rPr sz="2400" spc="-4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time</a:t>
            </a:r>
            <a:r>
              <a:rPr sz="2400" spc="-3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for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P1=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6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+24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 spc="-25">
                <a:latin typeface="Times New Roman"/>
                <a:cs typeface="Times New Roman"/>
              </a:rPr>
              <a:t>=30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50024404" name="object 4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4180">
              <a:lnSpc>
                <a:spcPct val="100000"/>
              </a:lnSpc>
              <a:spcBef>
                <a:spcPts val="95"/>
              </a:spcBef>
              <a:defRPr/>
            </a:pPr>
            <a:r>
              <a:rPr spc="-10"/>
              <a:t>Scheduling</a:t>
            </a:r>
            <a:r>
              <a:rPr spc="-155"/>
              <a:t> </a:t>
            </a:r>
            <a:r>
              <a:rPr spc="-10"/>
              <a:t>Algorithms</a:t>
            </a:r>
            <a:endParaRPr/>
          </a:p>
        </p:txBody>
      </p:sp>
      <p:sp>
        <p:nvSpPr>
          <p:cNvPr id="1109642163" name="object 5"/>
          <p:cNvSpPr txBox="1"/>
          <p:nvPr/>
        </p:nvSpPr>
        <p:spPr bwMode="auto">
          <a:xfrm>
            <a:off x="837070" y="2191046"/>
            <a:ext cx="9461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100" spc="-50">
                <a:latin typeface="Arial MT"/>
                <a:cs typeface="Arial MT"/>
              </a:rPr>
              <a:t>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97648042" name="object 6"/>
          <p:cNvSpPr txBox="1"/>
          <p:nvPr/>
        </p:nvSpPr>
        <p:spPr bwMode="auto">
          <a:xfrm>
            <a:off x="4937172" y="2191046"/>
            <a:ext cx="1625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100" spc="-55">
                <a:latin typeface="Arial MT"/>
                <a:cs typeface="Arial MT"/>
              </a:rPr>
              <a:t>18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29122627" name="object 7"/>
          <p:cNvSpPr txBox="1"/>
          <p:nvPr/>
        </p:nvSpPr>
        <p:spPr bwMode="auto">
          <a:xfrm>
            <a:off x="7698258" y="2191046"/>
            <a:ext cx="1625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100" spc="-55">
                <a:latin typeface="Arial MT"/>
                <a:cs typeface="Arial MT"/>
              </a:rPr>
              <a:t>30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31376119" name="object 8"/>
          <p:cNvSpPr txBox="1"/>
          <p:nvPr/>
        </p:nvSpPr>
        <p:spPr bwMode="auto">
          <a:xfrm>
            <a:off x="6791358" y="2191046"/>
            <a:ext cx="1625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100" spc="-55">
                <a:latin typeface="Arial MT"/>
                <a:cs typeface="Arial MT"/>
              </a:rPr>
              <a:t>26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11846059" name="object 9"/>
          <p:cNvSpPr txBox="1"/>
          <p:nvPr/>
        </p:nvSpPr>
        <p:spPr bwMode="auto">
          <a:xfrm>
            <a:off x="4008958" y="2191046"/>
            <a:ext cx="1625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100" spc="-55">
                <a:latin typeface="Arial MT"/>
                <a:cs typeface="Arial MT"/>
              </a:rPr>
              <a:t>14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94985641" name="object 10"/>
          <p:cNvSpPr txBox="1"/>
          <p:nvPr/>
        </p:nvSpPr>
        <p:spPr bwMode="auto">
          <a:xfrm>
            <a:off x="1743965" y="2191046"/>
            <a:ext cx="9461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100" spc="-50">
                <a:latin typeface="Arial MT"/>
                <a:cs typeface="Arial MT"/>
              </a:rPr>
              <a:t>4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70151703" name="object 11"/>
          <p:cNvSpPr txBox="1"/>
          <p:nvPr/>
        </p:nvSpPr>
        <p:spPr bwMode="auto">
          <a:xfrm>
            <a:off x="2423026" y="2191046"/>
            <a:ext cx="9461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100" spc="-50">
                <a:latin typeface="Arial MT"/>
                <a:cs typeface="Arial MT"/>
              </a:rPr>
              <a:t>7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7661732" name="object 12"/>
          <p:cNvSpPr txBox="1"/>
          <p:nvPr/>
        </p:nvSpPr>
        <p:spPr bwMode="auto">
          <a:xfrm>
            <a:off x="3061645" y="2191046"/>
            <a:ext cx="1625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100" spc="-55">
                <a:latin typeface="Arial MT"/>
                <a:cs typeface="Arial MT"/>
              </a:rPr>
              <a:t>10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72238600" name="object 13"/>
          <p:cNvSpPr txBox="1"/>
          <p:nvPr/>
        </p:nvSpPr>
        <p:spPr bwMode="auto">
          <a:xfrm>
            <a:off x="5863229" y="2191046"/>
            <a:ext cx="1625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100" spc="-55">
                <a:latin typeface="Arial MT"/>
                <a:cs typeface="Arial MT"/>
              </a:rPr>
              <a:t>22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694216216" name="object 14"/>
          <p:cNvGraphicFramePr>
            <a:graphicFrameLocks xmlns:a="http://schemas.openxmlformats.org/drawingml/2006/main" noGrp="1"/>
          </p:cNvGraphicFramePr>
          <p:nvPr/>
        </p:nvGraphicFramePr>
        <p:xfrm rot="0">
          <a:off x="876326" y="1517863"/>
          <a:ext cx="6988808" cy="635635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895985"/>
                <a:gridCol w="680720"/>
                <a:gridCol w="678814"/>
                <a:gridCol w="946785"/>
                <a:gridCol w="927735"/>
                <a:gridCol w="904239"/>
                <a:gridCol w="927735"/>
                <a:gridCol w="935990"/>
              </a:tblGrid>
              <a:tr h="635635">
                <a:tc>
                  <a:txBody>
                    <a:bodyPr/>
                    <a:p>
                      <a:pPr marL="19685" algn="ctr">
                        <a:lnSpc>
                          <a:spcPct val="100000"/>
                        </a:lnSpc>
                        <a:spcBef>
                          <a:spcPts val="1065"/>
                        </a:spcBef>
                        <a:defRPr/>
                      </a:pPr>
                      <a:r>
                        <a:rPr sz="1850" spc="-25">
                          <a:latin typeface="Arial MT"/>
                          <a:cs typeface="Arial MT"/>
                        </a:rPr>
                        <a:t>P</a:t>
                      </a:r>
                      <a:r>
                        <a:rPr sz="1650" spc="-37" baseline="-25000">
                          <a:latin typeface="Arial MT"/>
                          <a:cs typeface="Arial MT"/>
                        </a:rPr>
                        <a:t>1</a:t>
                      </a:r>
                      <a:endParaRPr sz="1650" baseline="-250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p>
                      <a:pPr marL="8890" algn="ctr">
                        <a:lnSpc>
                          <a:spcPct val="100000"/>
                        </a:lnSpc>
                        <a:spcBef>
                          <a:spcPts val="1065"/>
                        </a:spcBef>
                        <a:defRPr/>
                      </a:pPr>
                      <a:r>
                        <a:rPr sz="1850" spc="-25">
                          <a:latin typeface="Arial MT"/>
                          <a:cs typeface="Arial MT"/>
                        </a:rPr>
                        <a:t>P</a:t>
                      </a:r>
                      <a:r>
                        <a:rPr sz="1650" spc="-37" baseline="-25000">
                          <a:latin typeface="Arial MT"/>
                          <a:cs typeface="Arial MT"/>
                        </a:rPr>
                        <a:t>2</a:t>
                      </a:r>
                      <a:endParaRPr sz="1650" baseline="-250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p>
                      <a:pPr marL="269875">
                        <a:lnSpc>
                          <a:spcPct val="100000"/>
                        </a:lnSpc>
                        <a:spcBef>
                          <a:spcPts val="1065"/>
                        </a:spcBef>
                        <a:defRPr/>
                      </a:pPr>
                      <a:r>
                        <a:rPr sz="1850" spc="-25">
                          <a:latin typeface="Arial MT"/>
                          <a:cs typeface="Arial MT"/>
                        </a:rPr>
                        <a:t>P</a:t>
                      </a:r>
                      <a:r>
                        <a:rPr sz="1650" spc="-37" baseline="-25000">
                          <a:latin typeface="Arial MT"/>
                          <a:cs typeface="Arial MT"/>
                        </a:rPr>
                        <a:t>3</a:t>
                      </a:r>
                      <a:endParaRPr sz="1650" baseline="-250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p>
                      <a:pPr marL="70485" algn="ctr">
                        <a:lnSpc>
                          <a:spcPct val="100000"/>
                        </a:lnSpc>
                        <a:spcBef>
                          <a:spcPts val="1065"/>
                        </a:spcBef>
                        <a:defRPr/>
                      </a:pPr>
                      <a:r>
                        <a:rPr sz="1850" spc="-25">
                          <a:latin typeface="Arial MT"/>
                          <a:cs typeface="Arial MT"/>
                        </a:rPr>
                        <a:t>P</a:t>
                      </a:r>
                      <a:r>
                        <a:rPr sz="1650" spc="-37" baseline="-25000">
                          <a:latin typeface="Arial MT"/>
                          <a:cs typeface="Arial MT"/>
                        </a:rPr>
                        <a:t>1</a:t>
                      </a:r>
                      <a:endParaRPr sz="1650" baseline="-250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p>
                      <a:pPr marL="49530" algn="ctr">
                        <a:lnSpc>
                          <a:spcPct val="100000"/>
                        </a:lnSpc>
                        <a:spcBef>
                          <a:spcPts val="1065"/>
                        </a:spcBef>
                        <a:defRPr/>
                      </a:pPr>
                      <a:r>
                        <a:rPr sz="1850" spc="-25">
                          <a:latin typeface="Arial MT"/>
                          <a:cs typeface="Arial MT"/>
                        </a:rPr>
                        <a:t>P</a:t>
                      </a:r>
                      <a:r>
                        <a:rPr sz="1650" spc="-37" baseline="-25000">
                          <a:latin typeface="Arial MT"/>
                          <a:cs typeface="Arial MT"/>
                        </a:rPr>
                        <a:t>1</a:t>
                      </a:r>
                      <a:endParaRPr sz="1650" baseline="-250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p>
                      <a:pPr marR="4445" algn="ctr">
                        <a:lnSpc>
                          <a:spcPct val="100000"/>
                        </a:lnSpc>
                        <a:spcBef>
                          <a:spcPts val="1065"/>
                        </a:spcBef>
                        <a:defRPr/>
                      </a:pPr>
                      <a:r>
                        <a:rPr sz="1850" spc="-25">
                          <a:latin typeface="Arial MT"/>
                          <a:cs typeface="Arial MT"/>
                        </a:rPr>
                        <a:t>P</a:t>
                      </a:r>
                      <a:r>
                        <a:rPr sz="1650" spc="-37" baseline="-25000">
                          <a:latin typeface="Arial MT"/>
                          <a:cs typeface="Arial MT"/>
                        </a:rPr>
                        <a:t>1</a:t>
                      </a:r>
                      <a:endParaRPr sz="1650" baseline="-250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p>
                      <a:pPr marL="92075" algn="ctr">
                        <a:lnSpc>
                          <a:spcPct val="100000"/>
                        </a:lnSpc>
                        <a:spcBef>
                          <a:spcPts val="1065"/>
                        </a:spcBef>
                        <a:defRPr/>
                      </a:pPr>
                      <a:r>
                        <a:rPr sz="1850" spc="-25">
                          <a:latin typeface="Arial MT"/>
                          <a:cs typeface="Arial MT"/>
                        </a:rPr>
                        <a:t>P</a:t>
                      </a:r>
                      <a:r>
                        <a:rPr sz="1650" spc="-37" baseline="-25000">
                          <a:latin typeface="Arial MT"/>
                          <a:cs typeface="Arial MT"/>
                        </a:rPr>
                        <a:t>1</a:t>
                      </a:r>
                      <a:endParaRPr sz="1650" baseline="-250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065"/>
                        </a:spcBef>
                        <a:defRPr/>
                      </a:pPr>
                      <a:r>
                        <a:rPr sz="1850" spc="-305">
                          <a:latin typeface="Arial MT"/>
                          <a:cs typeface="Arial MT"/>
                        </a:rPr>
                        <a:t>P</a:t>
                      </a:r>
                      <a:r>
                        <a:rPr sz="1650" spc="-457" baseline="-25000">
                          <a:latin typeface="Arial MT"/>
                          <a:cs typeface="Arial MT"/>
                        </a:rPr>
                        <a:t>1</a:t>
                      </a:r>
                      <a:endParaRPr sz="1650" baseline="-250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  <a:solidFill>
                      <a:srgbClr val="EAEFEF"/>
                    </a:solidFill>
                  </a:tcPr>
                </a:tc>
              </a:tr>
            </a:tbl>
          </a:graphicData>
        </a:graphic>
      </p:graphicFrame>
      <p:sp>
        <p:nvSpPr>
          <p:cNvPr id="224318187" name="object 15"/>
          <p:cNvSpPr txBox="1"/>
          <p:nvPr/>
        </p:nvSpPr>
        <p:spPr bwMode="auto">
          <a:xfrm>
            <a:off x="909015" y="911733"/>
            <a:ext cx="4808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2400" u="sng">
                <a:latin typeface="Times New Roman"/>
                <a:cs typeface="Times New Roman"/>
              </a:rPr>
              <a:t>Ex.:</a:t>
            </a:r>
            <a:r>
              <a:rPr sz="2400" u="sng" spc="-3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If</a:t>
            </a:r>
            <a:r>
              <a:rPr sz="2400" spc="-5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Time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Quantum</a:t>
            </a:r>
            <a:r>
              <a:rPr sz="2400" spc="-3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=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4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 spc="-10">
                <a:latin typeface="Times New Roman"/>
                <a:cs typeface="Times New Roman"/>
              </a:rPr>
              <a:t>milliseconds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14146544" name="object 16"/>
          <p:cNvSpPr txBox="1"/>
          <p:nvPr/>
        </p:nvSpPr>
        <p:spPr bwMode="auto">
          <a:xfrm>
            <a:off x="8045322" y="6312204"/>
            <a:ext cx="1543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1000" spc="-25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274800316" name="object 17"/>
          <p:cNvGraphicFramePr>
            <a:graphicFrameLocks xmlns:a="http://schemas.openxmlformats.org/drawingml/2006/main" noGrp="1"/>
          </p:cNvGraphicFramePr>
          <p:nvPr/>
        </p:nvGraphicFramePr>
        <p:xfrm rot="0">
          <a:off x="2648457" y="2476754"/>
          <a:ext cx="3644265" cy="170561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1777364"/>
                <a:gridCol w="1777364"/>
              </a:tblGrid>
              <a:tr h="426720">
                <a:tc>
                  <a:txBody>
                    <a:bodyPr/>
                    <a:p>
                      <a:pPr marL="5080" algn="ctr">
                        <a:lnSpc>
                          <a:spcPct val="100000"/>
                        </a:lnSpc>
                        <a:spcBef>
                          <a:spcPts val="290"/>
                        </a:spcBef>
                        <a:defRPr/>
                      </a:pPr>
                      <a:r>
                        <a:rPr sz="2200" spc="-10">
                          <a:latin typeface="Times New Roman"/>
                          <a:cs typeface="Times New Roman"/>
                        </a:rPr>
                        <a:t>Process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80" algn="ctr">
                        <a:lnSpc>
                          <a:spcPct val="100000"/>
                        </a:lnSpc>
                        <a:spcBef>
                          <a:spcPts val="290"/>
                        </a:spcBef>
                        <a:defRPr/>
                      </a:pPr>
                      <a:r>
                        <a:rPr sz="2200">
                          <a:latin typeface="Times New Roman"/>
                          <a:cs typeface="Times New Roman"/>
                        </a:rPr>
                        <a:t>Burst</a:t>
                      </a:r>
                      <a:r>
                        <a:rPr sz="2200" spc="-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20">
                          <a:latin typeface="Times New Roman"/>
                          <a:cs typeface="Times New Roman"/>
                        </a:rPr>
                        <a:t>Time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26720">
                <a:tc>
                  <a:txBody>
                    <a:bodyPr/>
                    <a:p>
                      <a:pPr marL="3810" algn="ctr">
                        <a:lnSpc>
                          <a:spcPct val="100000"/>
                        </a:lnSpc>
                        <a:spcBef>
                          <a:spcPts val="290"/>
                        </a:spcBef>
                        <a:defRPr/>
                      </a:pPr>
                      <a:r>
                        <a:rPr sz="2200" spc="-25">
                          <a:latin typeface="Times New Roman"/>
                          <a:cs typeface="Times New Roman"/>
                        </a:rPr>
                        <a:t>P1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0"/>
                        </a:spcBef>
                        <a:defRPr/>
                      </a:pPr>
                      <a:r>
                        <a:rPr sz="2200" spc="-25">
                          <a:latin typeface="Times New Roman"/>
                          <a:cs typeface="Times New Roman"/>
                        </a:rPr>
                        <a:t>24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26084">
                <a:tc>
                  <a:txBody>
                    <a:bodyPr/>
                    <a:p>
                      <a:pPr marL="3810" algn="ctr">
                        <a:lnSpc>
                          <a:spcPct val="100000"/>
                        </a:lnSpc>
                        <a:spcBef>
                          <a:spcPts val="290"/>
                        </a:spcBef>
                        <a:defRPr/>
                      </a:pPr>
                      <a:r>
                        <a:rPr sz="2200" spc="-25">
                          <a:latin typeface="Times New Roman"/>
                          <a:cs typeface="Times New Roman"/>
                        </a:rPr>
                        <a:t>P2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  <a:defRPr/>
                      </a:pPr>
                      <a:r>
                        <a:rPr sz="2200" spc="-5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26084">
                <a:tc>
                  <a:txBody>
                    <a:bodyPr/>
                    <a:p>
                      <a:pPr marL="3810" algn="ctr">
                        <a:lnSpc>
                          <a:spcPct val="100000"/>
                        </a:lnSpc>
                        <a:spcBef>
                          <a:spcPts val="290"/>
                        </a:spcBef>
                        <a:defRPr/>
                      </a:pPr>
                      <a:r>
                        <a:rPr sz="2200" spc="-25">
                          <a:latin typeface="Times New Roman"/>
                          <a:cs typeface="Times New Roman"/>
                        </a:rPr>
                        <a:t>P3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  <a:defRPr/>
                      </a:pPr>
                      <a:r>
                        <a:rPr sz="2200" spc="-5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867633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4180">
              <a:lnSpc>
                <a:spcPct val="100000"/>
              </a:lnSpc>
              <a:spcBef>
                <a:spcPts val="95"/>
              </a:spcBef>
              <a:defRPr/>
            </a:pPr>
            <a:r>
              <a:rPr spc="-10"/>
              <a:t>Scheduling</a:t>
            </a:r>
            <a:r>
              <a:rPr spc="-155"/>
              <a:t> </a:t>
            </a:r>
            <a:r>
              <a:rPr spc="-10"/>
              <a:t>Algorithms</a:t>
            </a:r>
            <a:endParaRPr/>
          </a:p>
        </p:txBody>
      </p:sp>
      <p:sp>
        <p:nvSpPr>
          <p:cNvPr id="1985138075" name="object 3"/>
          <p:cNvSpPr txBox="1"/>
          <p:nvPr/>
        </p:nvSpPr>
        <p:spPr bwMode="auto">
          <a:xfrm>
            <a:off x="909015" y="808482"/>
            <a:ext cx="7049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2400">
                <a:latin typeface="Times New Roman"/>
                <a:cs typeface="Times New Roman"/>
              </a:rPr>
              <a:t>Another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example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in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Round</a:t>
            </a:r>
            <a:r>
              <a:rPr sz="2400" spc="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Robin</a:t>
            </a:r>
            <a:r>
              <a:rPr sz="2400" spc="-7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when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time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quantum</a:t>
            </a:r>
            <a:r>
              <a:rPr sz="2400" spc="-25">
                <a:latin typeface="Times New Roman"/>
                <a:cs typeface="Times New Roman"/>
              </a:rPr>
              <a:t> =4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2025779399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735012" y="3750436"/>
          <a:ext cx="7684134" cy="5130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949325"/>
                <a:gridCol w="949325"/>
                <a:gridCol w="949325"/>
                <a:gridCol w="949325"/>
                <a:gridCol w="949325"/>
                <a:gridCol w="949325"/>
                <a:gridCol w="949325"/>
                <a:gridCol w="949325"/>
              </a:tblGrid>
              <a:tr h="513080">
                <a:tc>
                  <a:txBody>
                    <a:bodyPr/>
                    <a:p>
                      <a:pPr marL="303530">
                        <a:lnSpc>
                          <a:spcPct val="100000"/>
                        </a:lnSpc>
                        <a:spcBef>
                          <a:spcPts val="295"/>
                        </a:spcBef>
                        <a:defRPr/>
                      </a:pPr>
                      <a:r>
                        <a:rPr sz="2000" b="1" spc="-2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5"/>
                        </a:spcBef>
                        <a:defRPr/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P2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175" algn="ctr">
                        <a:lnSpc>
                          <a:spcPct val="100000"/>
                        </a:lnSpc>
                        <a:spcBef>
                          <a:spcPts val="295"/>
                        </a:spcBef>
                        <a:defRPr/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P3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810" algn="ctr">
                        <a:lnSpc>
                          <a:spcPct val="100000"/>
                        </a:lnSpc>
                        <a:spcBef>
                          <a:spcPts val="295"/>
                        </a:spcBef>
                        <a:defRPr/>
                      </a:pPr>
                      <a:r>
                        <a:rPr sz="2000" b="1" spc="-25">
                          <a:solidFill>
                            <a:srgbClr val="3493B9"/>
                          </a:solidFill>
                          <a:latin typeface="Times New Roman"/>
                          <a:cs typeface="Times New Roman"/>
                        </a:rPr>
                        <a:t>P4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810" algn="ctr">
                        <a:lnSpc>
                          <a:spcPct val="100000"/>
                        </a:lnSpc>
                        <a:spcBef>
                          <a:spcPts val="295"/>
                        </a:spcBef>
                        <a:defRPr/>
                      </a:pPr>
                      <a:r>
                        <a:rPr sz="2000" b="1" spc="-2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810" algn="ctr">
                        <a:lnSpc>
                          <a:spcPct val="100000"/>
                        </a:lnSpc>
                        <a:spcBef>
                          <a:spcPts val="295"/>
                        </a:spcBef>
                        <a:defRPr/>
                      </a:pPr>
                      <a:r>
                        <a:rPr sz="2000" b="1" spc="-25">
                          <a:solidFill>
                            <a:srgbClr val="3493B9"/>
                          </a:solidFill>
                          <a:latin typeface="Times New Roman"/>
                          <a:cs typeface="Times New Roman"/>
                        </a:rPr>
                        <a:t>P4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445" algn="ctr">
                        <a:lnSpc>
                          <a:spcPct val="100000"/>
                        </a:lnSpc>
                        <a:spcBef>
                          <a:spcPts val="295"/>
                        </a:spcBef>
                        <a:defRPr/>
                      </a:pPr>
                      <a:r>
                        <a:rPr sz="2000" b="1" spc="-2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445" algn="ctr">
                        <a:lnSpc>
                          <a:spcPct val="100000"/>
                        </a:lnSpc>
                        <a:spcBef>
                          <a:spcPts val="295"/>
                        </a:spcBef>
                        <a:defRPr/>
                      </a:pPr>
                      <a:r>
                        <a:rPr sz="2000" b="1" spc="-2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63558655" name="object 5"/>
          <p:cNvSpPr txBox="1"/>
          <p:nvPr/>
        </p:nvSpPr>
        <p:spPr bwMode="auto">
          <a:xfrm>
            <a:off x="388416" y="4313885"/>
            <a:ext cx="8299450" cy="2175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100"/>
              </a:spcBef>
              <a:tabLst>
                <a:tab pos="1177290" algn="l"/>
                <a:tab pos="2149475" algn="l"/>
                <a:tab pos="3121660" algn="l"/>
                <a:tab pos="4092575" algn="l"/>
                <a:tab pos="4951095" algn="l"/>
                <a:tab pos="5922010" algn="l"/>
                <a:tab pos="6837045" algn="l"/>
                <a:tab pos="7808595" algn="l"/>
              </a:tabLst>
              <a:defRPr/>
            </a:pPr>
            <a:r>
              <a:rPr sz="1800" spc="-50">
                <a:latin typeface="Times New Roman"/>
                <a:cs typeface="Times New Roman"/>
              </a:rPr>
              <a:t>0</a:t>
            </a:r>
            <a:r>
              <a:rPr sz="1800">
                <a:latin typeface="Times New Roman"/>
                <a:cs typeface="Times New Roman"/>
              </a:rPr>
              <a:t>	</a:t>
            </a:r>
            <a:r>
              <a:rPr sz="1800" spc="-50">
                <a:latin typeface="Times New Roman"/>
                <a:cs typeface="Times New Roman"/>
              </a:rPr>
              <a:t>4</a:t>
            </a:r>
            <a:r>
              <a:rPr sz="1800">
                <a:latin typeface="Times New Roman"/>
                <a:cs typeface="Times New Roman"/>
              </a:rPr>
              <a:t>	</a:t>
            </a:r>
            <a:r>
              <a:rPr sz="1800" spc="-50">
                <a:latin typeface="Times New Roman"/>
                <a:cs typeface="Times New Roman"/>
              </a:rPr>
              <a:t>7</a:t>
            </a:r>
            <a:r>
              <a:rPr sz="1800">
                <a:latin typeface="Times New Roman"/>
                <a:cs typeface="Times New Roman"/>
              </a:rPr>
              <a:t>	</a:t>
            </a:r>
            <a:r>
              <a:rPr sz="1800" spc="-25">
                <a:latin typeface="Times New Roman"/>
                <a:cs typeface="Times New Roman"/>
              </a:rPr>
              <a:t>10</a:t>
            </a:r>
            <a:r>
              <a:rPr sz="1800">
                <a:latin typeface="Times New Roman"/>
                <a:cs typeface="Times New Roman"/>
              </a:rPr>
              <a:t>	</a:t>
            </a:r>
            <a:r>
              <a:rPr sz="1800" spc="-25">
                <a:latin typeface="Times New Roman"/>
                <a:cs typeface="Times New Roman"/>
              </a:rPr>
              <a:t>14</a:t>
            </a:r>
            <a:r>
              <a:rPr sz="1800">
                <a:latin typeface="Times New Roman"/>
                <a:cs typeface="Times New Roman"/>
              </a:rPr>
              <a:t>	</a:t>
            </a:r>
            <a:r>
              <a:rPr sz="1800" spc="-25">
                <a:latin typeface="Times New Roman"/>
                <a:cs typeface="Times New Roman"/>
              </a:rPr>
              <a:t>18</a:t>
            </a:r>
            <a:r>
              <a:rPr sz="1800">
                <a:latin typeface="Times New Roman"/>
                <a:cs typeface="Times New Roman"/>
              </a:rPr>
              <a:t>	</a:t>
            </a:r>
            <a:r>
              <a:rPr sz="1800" spc="-25">
                <a:latin typeface="Times New Roman"/>
                <a:cs typeface="Times New Roman"/>
              </a:rPr>
              <a:t>20</a:t>
            </a:r>
            <a:r>
              <a:rPr sz="1800">
                <a:latin typeface="Times New Roman"/>
                <a:cs typeface="Times New Roman"/>
              </a:rPr>
              <a:t>	</a:t>
            </a:r>
            <a:r>
              <a:rPr sz="1800" spc="-25">
                <a:latin typeface="Times New Roman"/>
                <a:cs typeface="Times New Roman"/>
              </a:rPr>
              <a:t>24</a:t>
            </a:r>
            <a:r>
              <a:rPr sz="1800">
                <a:latin typeface="Times New Roman"/>
                <a:cs typeface="Times New Roman"/>
              </a:rPr>
              <a:t>	</a:t>
            </a:r>
            <a:r>
              <a:rPr sz="1800" spc="-25">
                <a:latin typeface="Times New Roman"/>
                <a:cs typeface="Times New Roman"/>
              </a:rPr>
              <a:t>26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defRPr/>
            </a:pPr>
            <a:endParaRPr sz="1800">
              <a:latin typeface="Times New Roman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3515" algn="l"/>
              </a:tabLst>
              <a:defRPr/>
            </a:pPr>
            <a:r>
              <a:rPr sz="2400" spc="-20">
                <a:latin typeface="Times New Roman"/>
                <a:cs typeface="Times New Roman"/>
              </a:rPr>
              <a:t>Waiting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time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for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p1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=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0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+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(14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-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4)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+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(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20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–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18)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=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0+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10+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2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=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12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 spc="-25">
                <a:latin typeface="Times New Roman"/>
                <a:cs typeface="Times New Roman"/>
              </a:rPr>
              <a:t>ms</a:t>
            </a:r>
            <a:endParaRPr sz="2400">
              <a:latin typeface="Times New Roman"/>
              <a:cs typeface="Times New Roman"/>
            </a:endParaRPr>
          </a:p>
          <a:p>
            <a:pPr marL="183515" indent="-170815">
              <a:lnSpc>
                <a:spcPct val="100000"/>
              </a:lnSpc>
              <a:buFont typeface="Arial MT"/>
              <a:buChar char="•"/>
              <a:tabLst>
                <a:tab pos="183515" algn="l"/>
              </a:tabLst>
              <a:defRPr/>
            </a:pPr>
            <a:r>
              <a:rPr sz="2400" spc="-10">
                <a:latin typeface="Times New Roman"/>
                <a:cs typeface="Times New Roman"/>
              </a:rPr>
              <a:t>Turnaround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time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for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P1 =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waiting</a:t>
            </a:r>
            <a:r>
              <a:rPr sz="2400" spc="-3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+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burst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=</a:t>
            </a:r>
            <a:r>
              <a:rPr sz="2400" spc="-4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12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+14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=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 spc="-35">
                <a:latin typeface="Times New Roman"/>
                <a:cs typeface="Times New Roman"/>
              </a:rPr>
              <a:t>26</a:t>
            </a:r>
            <a:endParaRPr sz="2400">
              <a:latin typeface="Times New Roman"/>
              <a:cs typeface="Times New Roman"/>
            </a:endParaRPr>
          </a:p>
          <a:p>
            <a:pPr marL="183515" indent="-170815">
              <a:lnSpc>
                <a:spcPct val="100000"/>
              </a:lnSpc>
              <a:buFont typeface="Arial MT"/>
              <a:buChar char="•"/>
              <a:tabLst>
                <a:tab pos="183515" algn="l"/>
              </a:tabLst>
              <a:defRPr/>
            </a:pPr>
            <a:r>
              <a:rPr sz="2400" spc="-20">
                <a:latin typeface="Times New Roman"/>
                <a:cs typeface="Times New Roman"/>
              </a:rPr>
              <a:t>Waiting </a:t>
            </a:r>
            <a:r>
              <a:rPr sz="2400">
                <a:latin typeface="Times New Roman"/>
                <a:cs typeface="Times New Roman"/>
              </a:rPr>
              <a:t>time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for P4</a:t>
            </a:r>
            <a:r>
              <a:rPr sz="2400" spc="59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=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10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+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(18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–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14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)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= 10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+</a:t>
            </a:r>
            <a:r>
              <a:rPr sz="2400" spc="-2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4</a:t>
            </a:r>
            <a:r>
              <a:rPr sz="2400" spc="-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=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 spc="-25">
                <a:latin typeface="Times New Roman"/>
                <a:cs typeface="Times New Roman"/>
              </a:rPr>
              <a:t>14</a:t>
            </a:r>
            <a:endParaRPr sz="2400">
              <a:latin typeface="Times New Roman"/>
              <a:cs typeface="Times New Roman"/>
            </a:endParaRPr>
          </a:p>
          <a:p>
            <a:pPr marL="183515" indent="-170815">
              <a:lnSpc>
                <a:spcPts val="2810"/>
              </a:lnSpc>
              <a:buFont typeface="Arial MT"/>
              <a:buChar char="•"/>
              <a:tabLst>
                <a:tab pos="183515" algn="l"/>
              </a:tabLst>
              <a:defRPr/>
            </a:pPr>
            <a:r>
              <a:rPr sz="2400" spc="-10">
                <a:latin typeface="Times New Roman"/>
                <a:cs typeface="Times New Roman"/>
              </a:rPr>
              <a:t>Turnaround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time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for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P4 =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14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+6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=</a:t>
            </a:r>
            <a:r>
              <a:rPr sz="2400" spc="-25">
                <a:latin typeface="Times New Roman"/>
                <a:cs typeface="Times New Roman"/>
              </a:rPr>
              <a:t> 20</a:t>
            </a:r>
            <a:endParaRPr sz="2400">
              <a:latin typeface="Times New Roman"/>
              <a:cs typeface="Times New Roman"/>
            </a:endParaRPr>
          </a:p>
          <a:p>
            <a:pPr marR="492759" algn="r">
              <a:lnSpc>
                <a:spcPts val="1130"/>
              </a:lnSpc>
              <a:defRPr/>
            </a:pPr>
            <a:r>
              <a:rPr sz="1000" spc="-25">
                <a:solidFill>
                  <a:srgbClr val="888888"/>
                </a:solidFill>
                <a:latin typeface="Calibri"/>
                <a:cs typeface="Calibri"/>
              </a:rPr>
              <a:t>21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349357551" name="object 6"/>
          <p:cNvGraphicFramePr>
            <a:graphicFrameLocks xmlns:a="http://schemas.openxmlformats.org/drawingml/2006/main" noGrp="1"/>
          </p:cNvGraphicFramePr>
          <p:nvPr/>
        </p:nvGraphicFramePr>
        <p:xfrm rot="0">
          <a:off x="2353182" y="1302511"/>
          <a:ext cx="3644265" cy="213233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1777364"/>
                <a:gridCol w="1777364"/>
              </a:tblGrid>
              <a:tr h="426720">
                <a:tc>
                  <a:txBody>
                    <a:bodyPr/>
                    <a:p>
                      <a:pPr marL="5080" algn="ctr">
                        <a:lnSpc>
                          <a:spcPct val="100000"/>
                        </a:lnSpc>
                        <a:spcBef>
                          <a:spcPts val="285"/>
                        </a:spcBef>
                        <a:defRPr/>
                      </a:pPr>
                      <a:r>
                        <a:rPr sz="2200" spc="-10">
                          <a:latin typeface="Times New Roman"/>
                          <a:cs typeface="Times New Roman"/>
                        </a:rPr>
                        <a:t>Process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80" algn="ctr">
                        <a:lnSpc>
                          <a:spcPct val="100000"/>
                        </a:lnSpc>
                        <a:spcBef>
                          <a:spcPts val="285"/>
                        </a:spcBef>
                        <a:defRPr/>
                      </a:pPr>
                      <a:r>
                        <a:rPr sz="2200">
                          <a:latin typeface="Times New Roman"/>
                          <a:cs typeface="Times New Roman"/>
                        </a:rPr>
                        <a:t>Burst</a:t>
                      </a:r>
                      <a:r>
                        <a:rPr sz="2200" spc="-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20">
                          <a:latin typeface="Times New Roman"/>
                          <a:cs typeface="Times New Roman"/>
                        </a:rPr>
                        <a:t>Time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26084">
                <a:tc>
                  <a:txBody>
                    <a:bodyPr/>
                    <a:p>
                      <a:pPr marL="3810" algn="ctr">
                        <a:lnSpc>
                          <a:spcPct val="100000"/>
                        </a:lnSpc>
                        <a:spcBef>
                          <a:spcPts val="285"/>
                        </a:spcBef>
                        <a:defRPr/>
                      </a:pPr>
                      <a:r>
                        <a:rPr sz="2200" spc="-25">
                          <a:latin typeface="Times New Roman"/>
                          <a:cs typeface="Times New Roman"/>
                        </a:rPr>
                        <a:t>P1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  <a:defRPr/>
                      </a:pPr>
                      <a:r>
                        <a:rPr sz="2200" spc="-25">
                          <a:latin typeface="Times New Roman"/>
                          <a:cs typeface="Times New Roman"/>
                        </a:rPr>
                        <a:t>14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26720">
                <a:tc>
                  <a:txBody>
                    <a:bodyPr/>
                    <a:p>
                      <a:pPr marL="3810" algn="ctr">
                        <a:lnSpc>
                          <a:spcPct val="100000"/>
                        </a:lnSpc>
                        <a:spcBef>
                          <a:spcPts val="285"/>
                        </a:spcBef>
                        <a:defRPr/>
                      </a:pPr>
                      <a:r>
                        <a:rPr sz="2200" spc="-25">
                          <a:latin typeface="Times New Roman"/>
                          <a:cs typeface="Times New Roman"/>
                        </a:rPr>
                        <a:t>P2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  <a:defRPr/>
                      </a:pPr>
                      <a:r>
                        <a:rPr sz="2200" spc="-5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26084">
                <a:tc>
                  <a:txBody>
                    <a:bodyPr/>
                    <a:p>
                      <a:pPr marL="3810" algn="ctr">
                        <a:lnSpc>
                          <a:spcPct val="100000"/>
                        </a:lnSpc>
                        <a:spcBef>
                          <a:spcPts val="290"/>
                        </a:spcBef>
                        <a:defRPr/>
                      </a:pPr>
                      <a:r>
                        <a:rPr sz="2200" spc="-25">
                          <a:latin typeface="Times New Roman"/>
                          <a:cs typeface="Times New Roman"/>
                        </a:rPr>
                        <a:t>P3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  <a:defRPr/>
                      </a:pPr>
                      <a:r>
                        <a:rPr sz="2200" spc="-5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26720">
                <a:tc>
                  <a:txBody>
                    <a:bodyPr/>
                    <a:p>
                      <a:pPr marL="3810" algn="ctr">
                        <a:lnSpc>
                          <a:spcPct val="100000"/>
                        </a:lnSpc>
                        <a:spcBef>
                          <a:spcPts val="290"/>
                        </a:spcBef>
                        <a:defRPr/>
                      </a:pPr>
                      <a:r>
                        <a:rPr sz="2200" spc="-25">
                          <a:latin typeface="Times New Roman"/>
                          <a:cs typeface="Times New Roman"/>
                        </a:rPr>
                        <a:t>P4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  <a:defRPr/>
                      </a:pPr>
                      <a:r>
                        <a:rPr sz="2200" spc="-50">
                          <a:latin typeface="Times New Roman"/>
                          <a:cs typeface="Times New Roman"/>
                        </a:rPr>
                        <a:t>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/>
  <cp:revision>1</cp:revision>
  <dcterms:created xsi:type="dcterms:W3CDTF">2026-05-04T17:44:47Z</dcterms:created>
  <dcterms:modified xsi:type="dcterms:W3CDTF">2026-05-04T18:07:33Z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2025-04-27T00:00:00Z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2026-05-04T00:00:00Z</vt:filetime>
  </property>
  <property fmtid="{D5CDD505-2E9C-101B-9397-08002B2CF9AE}" pid="6" name="Producer">
    <vt:lpwstr>Microsoft® PowerPoint® 2019</vt:lpwstr>
  </property>
</Properties>
</file>